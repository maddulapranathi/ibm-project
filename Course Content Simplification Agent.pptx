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62" r:id="rId8"/>
    <p:sldId id="287" r:id="rId9"/>
    <p:sldId id="288" r:id="rId10"/>
    <p:sldId id="289" r:id="rId11"/>
    <p:sldId id="264" r:id="rId12"/>
    <p:sldId id="278" r:id="rId13"/>
    <p:sldId id="286" r:id="rId14"/>
    <p:sldId id="27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MaddulaPranathi/IBM-Projec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3797875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IN" sz="1800" dirty="0"/>
                    </a:p>
                    <a:p>
                      <a:pPr marL="0" marR="0" lvl="0" indent="0" algn="ctr" rtl="0">
                        <a:spcBef>
                          <a:spcPts val="0"/>
                        </a:spcBef>
                        <a:spcAft>
                          <a:spcPts val="0"/>
                        </a:spcAft>
                        <a:buNone/>
                      </a:pPr>
                      <a:r>
                        <a:rPr lang="en-IN" sz="1800" dirty="0" err="1"/>
                        <a:t>Maddula.Pranathi</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600" dirty="0"/>
                    </a:p>
                    <a:p>
                      <a:pPr marL="0" marR="0" lvl="0" indent="0" algn="l" rtl="0">
                        <a:spcBef>
                          <a:spcPts val="0"/>
                        </a:spcBef>
                        <a:spcAft>
                          <a:spcPts val="0"/>
                        </a:spcAft>
                        <a:buNone/>
                      </a:pPr>
                      <a:r>
                        <a:rPr lang="en-IN" sz="1600" dirty="0"/>
                        <a:t>pranthimaddula05@gmail.com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1600" dirty="0"/>
                    </a:p>
                    <a:p>
                      <a:pPr marL="0" marR="0" lvl="0" indent="0" algn="ctr" rtl="0">
                        <a:spcBef>
                          <a:spcPts val="0"/>
                        </a:spcBef>
                        <a:spcAft>
                          <a:spcPts val="0"/>
                        </a:spcAft>
                        <a:buNone/>
                      </a:pPr>
                      <a:r>
                        <a:rPr lang="en-IN" sz="1600" dirty="0"/>
                        <a:t>9392148573</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70131"/>
            <a:ext cx="9581177" cy="523220"/>
          </a:xfrm>
          <a:prstGeom prst="rect">
            <a:avLst/>
          </a:prstGeom>
          <a:noFill/>
        </p:spPr>
        <p:txBody>
          <a:bodyPr wrap="square" rtlCol="0">
            <a:spAutoFit/>
          </a:bodyPr>
          <a:lstStyle/>
          <a:p>
            <a:r>
              <a:rPr lang="en-US" sz="2400" b="1" dirty="0"/>
              <a:t>Project Tile – </a:t>
            </a:r>
            <a:r>
              <a:rPr lang="en-IN" sz="2800" dirty="0"/>
              <a:t>Course Content Simplification Agent</a:t>
            </a:r>
            <a:endParaRPr lang="en-IN" sz="2800" b="1" dirty="0">
              <a:highlight>
                <a:srgbClr val="FFFF00"/>
              </a:highlight>
            </a:endParaRPr>
          </a:p>
        </p:txBody>
      </p:sp>
      <p:pic>
        <p:nvPicPr>
          <p:cNvPr id="3" name="Picture 2">
            <a:extLst>
              <a:ext uri="{FF2B5EF4-FFF2-40B4-BE49-F238E27FC236}">
                <a16:creationId xmlns:a16="http://schemas.microsoft.com/office/drawing/2014/main" id="{19CFBF56-1960-E25C-ECAD-681AC8BDB8C6}"/>
              </a:ext>
            </a:extLst>
          </p:cNvPr>
          <p:cNvPicPr>
            <a:picLocks noChangeAspect="1"/>
          </p:cNvPicPr>
          <p:nvPr/>
        </p:nvPicPr>
        <p:blipFill>
          <a:blip r:embed="rId3"/>
          <a:stretch>
            <a:fillRect/>
          </a:stretch>
        </p:blipFill>
        <p:spPr>
          <a:xfrm>
            <a:off x="4122017" y="3677694"/>
            <a:ext cx="852755" cy="10897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109091"/>
          </a:xfrm>
          <a:prstGeom prst="rect">
            <a:avLst/>
          </a:prstGeom>
          <a:noFill/>
        </p:spPr>
        <p:txBody>
          <a:bodyPr wrap="square" rtlCol="0">
            <a:spAutoFit/>
          </a:bodyPr>
          <a:lstStyle/>
          <a:p>
            <a:pPr fontAlgn="base"/>
            <a:r>
              <a:rPr lang="en-US" b="1" dirty="0"/>
              <a:t>Problem Statement </a:t>
            </a:r>
            <a:r>
              <a:rPr lang="en-US" sz="1800" b="1" dirty="0"/>
              <a:t>:</a:t>
            </a:r>
            <a:r>
              <a:rPr lang="en-IN" sz="1800" dirty="0"/>
              <a:t>Course Content Simplification Agent</a:t>
            </a:r>
            <a:endParaRPr lang="en-US" sz="1800" dirty="0"/>
          </a:p>
          <a:p>
            <a:pPr fontAlgn="base"/>
            <a:endParaRPr lang="en-US" b="1" dirty="0"/>
          </a:p>
          <a:p>
            <a:pPr fontAlgn="base"/>
            <a:r>
              <a:rPr lang="en-US" b="1" dirty="0"/>
              <a:t>The Challenge</a:t>
            </a:r>
            <a:r>
              <a:rPr lang="en-US" dirty="0"/>
              <a:t> </a:t>
            </a:r>
          </a:p>
          <a:p>
            <a:pPr fontAlgn="base"/>
            <a:r>
              <a:rPr lang="en-IN" dirty="0"/>
              <a:t>Many students, especially </a:t>
            </a:r>
            <a:r>
              <a:rPr lang="en-IN" b="1" dirty="0"/>
              <a:t>first-generation learners </a:t>
            </a:r>
            <a:r>
              <a:rPr lang="en-IN" dirty="0"/>
              <a:t>and those from </a:t>
            </a:r>
            <a:r>
              <a:rPr lang="en-IN" b="1" dirty="0"/>
              <a:t>non-English</a:t>
            </a:r>
            <a:r>
              <a:rPr lang="en-IN" dirty="0"/>
              <a:t> medium backgrounds, struggle to understand complex academic course material. Textbooks, research papers, and lecture notes often use technical jargon or dense explanations, making it difficult for students to grasp core concepts independently. This comprehension gap leads to lower academic performance, reduced confidence, and a growing divide in learning outcomes — particularly in under-resourced or rural educational institutions. There is a pressing need for a solution that can automatically simplify educational content into clear, digestible formats suitable for a diverse student population.</a:t>
            </a:r>
            <a:endParaRPr lang="en-US" dirty="0"/>
          </a:p>
          <a:p>
            <a:pPr fontAlgn="base"/>
            <a:r>
              <a:rPr lang="en-US" b="1" dirty="0"/>
              <a:t>The Objective</a:t>
            </a:r>
            <a:r>
              <a:rPr lang="en-US" dirty="0"/>
              <a:t> </a:t>
            </a:r>
          </a:p>
          <a:p>
            <a:pPr fontAlgn="base"/>
            <a:r>
              <a:rPr lang="en-IN" b="1" dirty="0"/>
              <a:t>Simplify Complex Academic Material</a:t>
            </a:r>
            <a:r>
              <a:rPr lang="en-IN" dirty="0"/>
              <a:t> Automatically convert textbooks, lecture notes, and research papers into clear, digestible explanations that are easy to understand.</a:t>
            </a:r>
            <a:endParaRPr lang="en-US" dirty="0"/>
          </a:p>
          <a:p>
            <a:pPr fontAlgn="base"/>
            <a:r>
              <a:rPr lang="en-IN" b="1" dirty="0"/>
              <a:t>Bridge Language &amp; Comprehension Gaps</a:t>
            </a:r>
            <a:r>
              <a:rPr lang="en-IN" dirty="0"/>
              <a:t> Provide simplified content tailored for first‑generation learners and students from non‑English‑medium backgrounds.</a:t>
            </a:r>
            <a:endParaRPr lang="en-US" dirty="0"/>
          </a:p>
          <a:p>
            <a:r>
              <a:rPr lang="en-IN" b="1" dirty="0"/>
              <a:t>Enhance Academic Confidence &amp; Performance</a:t>
            </a:r>
            <a:r>
              <a:rPr lang="en-IN" dirty="0"/>
              <a:t> Support students in grasping core concepts independently, thereby improving learning outcomes and reducing dropout risks.</a:t>
            </a:r>
          </a:p>
          <a:p>
            <a:r>
              <a:rPr lang="en-IN" b="1" dirty="0"/>
              <a:t>Enhance Academic Confidence &amp; Performance</a:t>
            </a:r>
            <a:r>
              <a:rPr lang="en-IN" dirty="0"/>
              <a:t> Support students in grasping core concepts independently, thereby improving learning outcomes and reducing dropout risks.</a:t>
            </a:r>
          </a:p>
          <a:p>
            <a:r>
              <a:rPr lang="en-IN" b="1" dirty="0"/>
              <a:t>Enable Adaptive Learning Levels</a:t>
            </a:r>
            <a:r>
              <a:rPr lang="en-IN" dirty="0"/>
              <a:t> Offer explanations at beginner, intermediate, and advanced levels to match diverse student proficiency.</a:t>
            </a:r>
          </a:p>
          <a:p>
            <a:r>
              <a:rPr lang="en-IN" b="1" dirty="0"/>
              <a:t>Support Multi‑Language Accessibility</a:t>
            </a:r>
            <a:r>
              <a:rPr lang="en-IN" dirty="0"/>
              <a:t> Integrate translation features so simplified content can be delivered in regional languages.</a:t>
            </a:r>
          </a:p>
          <a:p>
            <a:r>
              <a:rPr lang="en-IN" b="1" dirty="0"/>
              <a:t>Provide Quick Summarization Tools</a:t>
            </a:r>
            <a:r>
              <a:rPr lang="en-IN" dirty="0"/>
              <a:t> Generate concise summaries for revision and exam preparation, reducing study time pressure.</a:t>
            </a:r>
          </a:p>
        </p:txBody>
      </p:sp>
      <p:sp>
        <p:nvSpPr>
          <p:cNvPr id="3" name="TextBox 2">
            <a:extLst>
              <a:ext uri="{FF2B5EF4-FFF2-40B4-BE49-F238E27FC236}">
                <a16:creationId xmlns:a16="http://schemas.microsoft.com/office/drawing/2014/main" id="{3847FA31-EA47-D27A-9D69-AF50A3080AEC}"/>
              </a:ext>
            </a:extLst>
          </p:cNvPr>
          <p:cNvSpPr txBox="1"/>
          <p:nvPr/>
        </p:nvSpPr>
        <p:spPr>
          <a:xfrm>
            <a:off x="586087" y="649660"/>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108543"/>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r>
              <a:rPr lang="en-IN" dirty="0"/>
              <a:t>Used IBM </a:t>
            </a:r>
            <a:r>
              <a:rPr lang="en-IN" dirty="0" err="1"/>
              <a:t>Orchhestrate</a:t>
            </a:r>
            <a:r>
              <a:rPr lang="en-IN" dirty="0"/>
              <a:t> to create an agent</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IBM Orchestrate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b="1" dirty="0"/>
          </a:p>
          <a:p>
            <a:r>
              <a:rPr lang="en-US" b="1" dirty="0"/>
              <a:t>Proposed Solution: </a:t>
            </a:r>
            <a:r>
              <a:rPr lang="en-IN" b="1" dirty="0"/>
              <a:t>AI‑Powered Course Content Simplification Agent</a:t>
            </a:r>
          </a:p>
          <a:p>
            <a:r>
              <a:rPr lang="en-IN" b="1" dirty="0"/>
              <a:t>AI‑Driven Text Simplification</a:t>
            </a:r>
            <a:r>
              <a:rPr lang="en-IN" dirty="0"/>
              <a:t> Develop a system using </a:t>
            </a:r>
            <a:r>
              <a:rPr lang="en-IN" b="1" dirty="0"/>
              <a:t>Natural Language Processing (NLP)</a:t>
            </a:r>
            <a:r>
              <a:rPr lang="en-IN" dirty="0"/>
              <a:t> and </a:t>
            </a:r>
            <a:r>
              <a:rPr lang="en-IN" b="1" dirty="0"/>
              <a:t>Large Language Models (LLMs)</a:t>
            </a:r>
            <a:r>
              <a:rPr lang="en-IN" dirty="0"/>
              <a:t> to automatically simplify textbooks, lecture notes, and research papers into clear, jargon‑free explanations.</a:t>
            </a:r>
          </a:p>
          <a:p>
            <a:r>
              <a:rPr lang="en-IN" b="1" dirty="0"/>
              <a:t>Multi‑Level Explanations</a:t>
            </a:r>
            <a:r>
              <a:rPr lang="en-IN" dirty="0"/>
              <a:t> Provide content at </a:t>
            </a:r>
            <a:r>
              <a:rPr lang="en-IN" b="1" dirty="0"/>
              <a:t>three levels of complexity</a:t>
            </a:r>
            <a:r>
              <a:rPr lang="en-IN" dirty="0"/>
              <a:t> (beginner, intermediate, advanced) so students can choose explanations that match their current understanding.</a:t>
            </a:r>
          </a:p>
          <a:p>
            <a:r>
              <a:rPr lang="en-IN" b="1" dirty="0"/>
              <a:t>Multi‑Language Support</a:t>
            </a:r>
            <a:r>
              <a:rPr lang="en-IN" dirty="0"/>
              <a:t> Integrate </a:t>
            </a:r>
            <a:r>
              <a:rPr lang="en-IN" b="1" dirty="0"/>
              <a:t>translation and localization</a:t>
            </a:r>
            <a:r>
              <a:rPr lang="en-IN" dirty="0"/>
              <a:t> features to deliver simplified content in regional languages, ensuring accessibility for non‑English medium learners.</a:t>
            </a:r>
          </a:p>
          <a:p>
            <a:r>
              <a:rPr lang="en-IN" b="1" dirty="0"/>
              <a:t>Interactive Learning Tools</a:t>
            </a:r>
            <a:r>
              <a:rPr lang="en-IN" dirty="0"/>
              <a:t> Offer </a:t>
            </a:r>
            <a:r>
              <a:rPr lang="en-IN" b="1" dirty="0"/>
              <a:t>summaries, flashcards, and quizzes</a:t>
            </a:r>
            <a:r>
              <a:rPr lang="en-IN" dirty="0"/>
              <a:t> generated from simplified content to reinforce understanding and aid exam preparation.</a:t>
            </a:r>
          </a:p>
          <a:p>
            <a:r>
              <a:rPr lang="en-IN" b="1" dirty="0"/>
              <a:t>Adaptive Personalization</a:t>
            </a:r>
            <a:r>
              <a:rPr lang="en-IN" dirty="0"/>
              <a:t> Use </a:t>
            </a:r>
            <a:r>
              <a:rPr lang="en-IN" b="1" dirty="0"/>
              <a:t>student profiles and learning analytics</a:t>
            </a:r>
            <a:r>
              <a:rPr lang="en-IN" dirty="0"/>
              <a:t> to tailor simplification depth, examples, and analogies based on individual needs.</a:t>
            </a:r>
          </a:p>
          <a:p>
            <a:r>
              <a:rPr lang="en-IN" b="1" dirty="0"/>
              <a:t>Cloud‑Based Deployment</a:t>
            </a:r>
            <a:r>
              <a:rPr lang="en-IN" dirty="0"/>
              <a:t> Host the solution on </a:t>
            </a:r>
            <a:r>
              <a:rPr lang="en-IN" b="1" dirty="0"/>
              <a:t>IBM Cloud Lite</a:t>
            </a:r>
            <a:r>
              <a:rPr lang="en-IN" dirty="0"/>
              <a:t> with </a:t>
            </a:r>
            <a:r>
              <a:rPr lang="en-IN" b="1" dirty="0"/>
              <a:t>Granite models</a:t>
            </a:r>
            <a:r>
              <a:rPr lang="en-IN" dirty="0"/>
              <a:t> for scalability, cost‑effectiveness, and easy integration into institutional platforms.</a:t>
            </a:r>
          </a:p>
          <a:p>
            <a:r>
              <a:rPr lang="en-IN" b="1" dirty="0"/>
              <a:t>Offline &amp; Low‑Bandwidth Access</a:t>
            </a:r>
            <a:r>
              <a:rPr lang="en-IN" dirty="0"/>
              <a:t> Provide downloadable simplified notes and summaries for students in rural or under‑resourced areas with limited internet connectivity.</a:t>
            </a:r>
          </a:p>
          <a:p>
            <a:r>
              <a:rPr lang="en-IN" b="1" dirty="0"/>
              <a:t>Educator Integration</a:t>
            </a:r>
            <a:r>
              <a:rPr lang="en-IN" dirty="0"/>
              <a:t> Allow teachers to upload course material and receive simplified versions, enabling them to support diverse classrooms more effectively.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81133" y="283326"/>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a:t>
            </a:r>
            <a:r>
              <a:rPr lang="en-IN" dirty="0"/>
              <a:t>Chat outputs are the </a:t>
            </a:r>
            <a:r>
              <a:rPr lang="en-IN" b="1" dirty="0"/>
              <a:t>student‑friendly results</a:t>
            </a:r>
            <a:r>
              <a:rPr lang="en-IN" dirty="0"/>
              <a:t> like simplified explanations, summaries, quizzes, translations, and confidence‑building suggestions.</a:t>
            </a:r>
            <a:endParaRPr lang="en-US" dirty="0"/>
          </a:p>
          <a:p>
            <a:endParaRPr lang="en-US" dirty="0"/>
          </a:p>
          <a:p>
            <a:r>
              <a:rPr lang="en-US" b="1" dirty="0"/>
              <a:t>5) File component - </a:t>
            </a:r>
            <a:r>
              <a:rPr lang="en-US" dirty="0"/>
              <a:t>Stores and retrieves user data ,datasets for analysis and tracking.</a:t>
            </a:r>
          </a:p>
          <a:p>
            <a:endParaRPr lang="en-US" dirty="0"/>
          </a:p>
          <a:p>
            <a:endParaRPr lang="en-US" dirty="0"/>
          </a:p>
          <a:p>
            <a:r>
              <a:rPr lang="en-US" dirty="0"/>
              <a:t>6) IBM Orchestrate.</a:t>
            </a:r>
          </a:p>
          <a:p>
            <a:pPr marL="342900" indent="-342900">
              <a:buAutoNum type="arabicParenR" startAt="3"/>
            </a:pPr>
            <a:endParaRPr lang="en-US" dirty="0">
              <a:highlight>
                <a:srgbClr val="FFFF00"/>
              </a:highlight>
            </a:endParaRP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413D971F-6017-EA20-A5B8-F5162C5C6D6A}"/>
              </a:ext>
            </a:extLst>
          </p:cNvPr>
          <p:cNvPicPr>
            <a:picLocks noChangeAspect="1"/>
          </p:cNvPicPr>
          <p:nvPr/>
        </p:nvPicPr>
        <p:blipFill>
          <a:blip r:embed="rId3"/>
          <a:stretch>
            <a:fillRect/>
          </a:stretch>
        </p:blipFill>
        <p:spPr>
          <a:xfrm>
            <a:off x="1262743" y="674914"/>
            <a:ext cx="9274629" cy="61830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09A0-5630-8C1A-E648-61061A036FC9}"/>
              </a:ext>
            </a:extLst>
          </p:cNvPr>
          <p:cNvSpPr>
            <a:spLocks noGrp="1"/>
          </p:cNvSpPr>
          <p:nvPr>
            <p:ph type="title"/>
          </p:nvPr>
        </p:nvSpPr>
        <p:spPr>
          <a:xfrm>
            <a:off x="838200" y="365126"/>
            <a:ext cx="10515600" cy="315911"/>
          </a:xfrm>
        </p:spPr>
        <p:txBody>
          <a:bodyPr>
            <a:normAutofit fontScale="90000"/>
          </a:bodyPr>
          <a:lstStyle/>
          <a:p>
            <a:r>
              <a:rPr lang="en-IN" dirty="0"/>
              <a:t>Output Screens:</a:t>
            </a:r>
          </a:p>
        </p:txBody>
      </p:sp>
      <p:sp>
        <p:nvSpPr>
          <p:cNvPr id="3" name="Text Placeholder 2">
            <a:extLst>
              <a:ext uri="{FF2B5EF4-FFF2-40B4-BE49-F238E27FC236}">
                <a16:creationId xmlns:a16="http://schemas.microsoft.com/office/drawing/2014/main" id="{E4BC80EC-D56B-E2A5-FD80-7CEE6743089C}"/>
              </a:ext>
            </a:extLst>
          </p:cNvPr>
          <p:cNvSpPr>
            <a:spLocks noGrp="1"/>
          </p:cNvSpPr>
          <p:nvPr>
            <p:ph type="body" idx="1"/>
          </p:nvPr>
        </p:nvSpPr>
        <p:spPr>
          <a:xfrm>
            <a:off x="838200" y="881743"/>
            <a:ext cx="10515600" cy="5508171"/>
          </a:xfrm>
        </p:spPr>
        <p:txBody>
          <a:bodyPr/>
          <a:lstStyle/>
          <a:p>
            <a:endParaRPr lang="en-IN" dirty="0"/>
          </a:p>
        </p:txBody>
      </p:sp>
      <p:pic>
        <p:nvPicPr>
          <p:cNvPr id="5" name="Picture 4">
            <a:extLst>
              <a:ext uri="{FF2B5EF4-FFF2-40B4-BE49-F238E27FC236}">
                <a16:creationId xmlns:a16="http://schemas.microsoft.com/office/drawing/2014/main" id="{1B4C317E-DB16-0D34-2928-44A58435E8B5}"/>
              </a:ext>
            </a:extLst>
          </p:cNvPr>
          <p:cNvPicPr>
            <a:picLocks noChangeAspect="1"/>
          </p:cNvPicPr>
          <p:nvPr/>
        </p:nvPicPr>
        <p:blipFill>
          <a:blip r:embed="rId2"/>
          <a:stretch>
            <a:fillRect/>
          </a:stretch>
        </p:blipFill>
        <p:spPr>
          <a:xfrm>
            <a:off x="838200" y="881743"/>
            <a:ext cx="10515600" cy="5508171"/>
          </a:xfrm>
          <a:prstGeom prst="rect">
            <a:avLst/>
          </a:prstGeom>
        </p:spPr>
      </p:pic>
    </p:spTree>
    <p:extLst>
      <p:ext uri="{BB962C8B-B14F-4D97-AF65-F5344CB8AC3E}">
        <p14:creationId xmlns:p14="http://schemas.microsoft.com/office/powerpoint/2010/main" val="53863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046DD8-79B1-350C-1B21-8B7594BD116C}"/>
              </a:ext>
            </a:extLst>
          </p:cNvPr>
          <p:cNvPicPr>
            <a:picLocks noChangeAspect="1"/>
          </p:cNvPicPr>
          <p:nvPr/>
        </p:nvPicPr>
        <p:blipFill>
          <a:blip r:embed="rId2"/>
          <a:stretch>
            <a:fillRect/>
          </a:stretch>
        </p:blipFill>
        <p:spPr>
          <a:xfrm>
            <a:off x="174172" y="163286"/>
            <a:ext cx="4093029" cy="6531428"/>
          </a:xfrm>
          <a:prstGeom prst="rect">
            <a:avLst/>
          </a:prstGeom>
        </p:spPr>
      </p:pic>
      <p:pic>
        <p:nvPicPr>
          <p:cNvPr id="5" name="Picture 4">
            <a:extLst>
              <a:ext uri="{FF2B5EF4-FFF2-40B4-BE49-F238E27FC236}">
                <a16:creationId xmlns:a16="http://schemas.microsoft.com/office/drawing/2014/main" id="{CC55FBE4-C54B-274B-4DCF-E32D180B31AB}"/>
              </a:ext>
            </a:extLst>
          </p:cNvPr>
          <p:cNvPicPr>
            <a:picLocks noChangeAspect="1"/>
          </p:cNvPicPr>
          <p:nvPr/>
        </p:nvPicPr>
        <p:blipFill>
          <a:blip r:embed="rId3"/>
          <a:stretch>
            <a:fillRect/>
          </a:stretch>
        </p:blipFill>
        <p:spPr>
          <a:xfrm>
            <a:off x="4093030" y="163286"/>
            <a:ext cx="4005943" cy="6531428"/>
          </a:xfrm>
          <a:prstGeom prst="rect">
            <a:avLst/>
          </a:prstGeom>
        </p:spPr>
      </p:pic>
      <p:pic>
        <p:nvPicPr>
          <p:cNvPr id="7" name="Picture 6">
            <a:extLst>
              <a:ext uri="{FF2B5EF4-FFF2-40B4-BE49-F238E27FC236}">
                <a16:creationId xmlns:a16="http://schemas.microsoft.com/office/drawing/2014/main" id="{0EB8769D-4089-9F1A-70D6-8C7176357AAB}"/>
              </a:ext>
            </a:extLst>
          </p:cNvPr>
          <p:cNvPicPr>
            <a:picLocks noChangeAspect="1"/>
          </p:cNvPicPr>
          <p:nvPr/>
        </p:nvPicPr>
        <p:blipFill>
          <a:blip r:embed="rId4"/>
          <a:stretch>
            <a:fillRect/>
          </a:stretch>
        </p:blipFill>
        <p:spPr>
          <a:xfrm>
            <a:off x="7924799" y="250370"/>
            <a:ext cx="4093029" cy="6444343"/>
          </a:xfrm>
          <a:prstGeom prst="rect">
            <a:avLst/>
          </a:prstGeom>
        </p:spPr>
      </p:pic>
    </p:spTree>
    <p:extLst>
      <p:ext uri="{BB962C8B-B14F-4D97-AF65-F5344CB8AC3E}">
        <p14:creationId xmlns:p14="http://schemas.microsoft.com/office/powerpoint/2010/main" val="395782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1918BE-8CB9-B571-89A6-D24A429135BE}"/>
              </a:ext>
            </a:extLst>
          </p:cNvPr>
          <p:cNvPicPr>
            <a:picLocks noChangeAspect="1"/>
          </p:cNvPicPr>
          <p:nvPr/>
        </p:nvPicPr>
        <p:blipFill>
          <a:blip r:embed="rId2"/>
          <a:stretch>
            <a:fillRect/>
          </a:stretch>
        </p:blipFill>
        <p:spPr>
          <a:xfrm>
            <a:off x="1458686" y="504417"/>
            <a:ext cx="4637314" cy="5849166"/>
          </a:xfrm>
          <a:prstGeom prst="rect">
            <a:avLst/>
          </a:prstGeom>
        </p:spPr>
      </p:pic>
      <p:pic>
        <p:nvPicPr>
          <p:cNvPr id="5" name="Picture 4">
            <a:extLst>
              <a:ext uri="{FF2B5EF4-FFF2-40B4-BE49-F238E27FC236}">
                <a16:creationId xmlns:a16="http://schemas.microsoft.com/office/drawing/2014/main" id="{0143BD9E-FFEC-05F0-0148-811310BA86DA}"/>
              </a:ext>
            </a:extLst>
          </p:cNvPr>
          <p:cNvPicPr>
            <a:picLocks noChangeAspect="1"/>
          </p:cNvPicPr>
          <p:nvPr/>
        </p:nvPicPr>
        <p:blipFill>
          <a:blip r:embed="rId3"/>
          <a:stretch>
            <a:fillRect/>
          </a:stretch>
        </p:blipFill>
        <p:spPr>
          <a:xfrm>
            <a:off x="6095999" y="442496"/>
            <a:ext cx="5061858" cy="5849166"/>
          </a:xfrm>
          <a:prstGeom prst="rect">
            <a:avLst/>
          </a:prstGeom>
        </p:spPr>
      </p:pic>
    </p:spTree>
    <p:extLst>
      <p:ext uri="{BB962C8B-B14F-4D97-AF65-F5344CB8AC3E}">
        <p14:creationId xmlns:p14="http://schemas.microsoft.com/office/powerpoint/2010/main" val="3624580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693319"/>
          </a:xfrm>
          <a:prstGeom prst="rect">
            <a:avLst/>
          </a:prstGeom>
          <a:noFill/>
        </p:spPr>
        <p:txBody>
          <a:bodyPr wrap="square" rtlCol="0">
            <a:spAutoFit/>
          </a:bodyPr>
          <a:lstStyle/>
          <a:p>
            <a:r>
              <a:rPr lang="en-US" sz="1800" b="1" dirty="0"/>
              <a:t>Role of Agentic AI in Nutrition Agent</a:t>
            </a:r>
          </a:p>
          <a:p>
            <a:r>
              <a:rPr lang="en-IN" sz="1800" b="1" dirty="0"/>
              <a:t>Agentic AI</a:t>
            </a:r>
            <a:r>
              <a:rPr lang="en-IN" sz="1800" dirty="0"/>
              <a:t> plays a central role by acting as the </a:t>
            </a:r>
            <a:r>
              <a:rPr lang="en-IN" sz="1800" b="1" dirty="0"/>
              <a:t>intelligent orchestrator</a:t>
            </a:r>
            <a:r>
              <a:rPr lang="en-IN" sz="1800" dirty="0"/>
              <a:t> that connects all system components. It performs </a:t>
            </a:r>
            <a:r>
              <a:rPr lang="en-IN" sz="1800" b="1" dirty="0"/>
              <a:t>autonomous task execution</a:t>
            </a:r>
            <a:r>
              <a:rPr lang="en-IN" sz="1800" dirty="0"/>
              <a:t>, meaning it can simplify, summarize, and translate content without manual input. Through </a:t>
            </a:r>
            <a:r>
              <a:rPr lang="en-IN" sz="1800" b="1" dirty="0"/>
              <a:t>goal‑oriented workflows</a:t>
            </a:r>
            <a:r>
              <a:rPr lang="en-IN" sz="1800" dirty="0"/>
              <a:t>, it decides which models or tools to use for each student query. Its </a:t>
            </a:r>
            <a:r>
              <a:rPr lang="en-IN" sz="1800" b="1" dirty="0"/>
              <a:t>dynamic decision‑making</a:t>
            </a:r>
            <a:r>
              <a:rPr lang="en-IN" sz="1800" dirty="0"/>
              <a:t> allows it to select the right complexity level for explanations, while </a:t>
            </a:r>
            <a:r>
              <a:rPr lang="en-IN" sz="1800" b="1" dirty="0"/>
              <a:t>context awareness</a:t>
            </a:r>
            <a:r>
              <a:rPr lang="en-IN" sz="1800" dirty="0"/>
              <a:t> ensures accurate results by retrieving relevant academic data. It also supports </a:t>
            </a:r>
            <a:r>
              <a:rPr lang="en-IN" sz="1800" b="1" dirty="0"/>
              <a:t>continuous learning and personalization</a:t>
            </a:r>
            <a:r>
              <a:rPr lang="en-IN" sz="1800" dirty="0"/>
              <a:t>, adapting to each learner’s needs, and works with </a:t>
            </a:r>
            <a:r>
              <a:rPr lang="en-IN" sz="1800" b="1" dirty="0"/>
              <a:t>Granite Guardrails</a:t>
            </a:r>
            <a:r>
              <a:rPr lang="en-IN" sz="1800" dirty="0"/>
              <a:t> to maintain safe, unbiased educational outputs — making it the </a:t>
            </a:r>
            <a:r>
              <a:rPr lang="en-IN" sz="1800" b="1" dirty="0"/>
              <a:t>core decision‑making engine</a:t>
            </a:r>
            <a:r>
              <a:rPr lang="en-IN" sz="1800" dirty="0"/>
              <a:t> of your Orchestrate Agent system.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IBM Orchestrate- </a:t>
            </a:r>
            <a:r>
              <a:rPr lang="en-IN" sz="1800" dirty="0"/>
              <a:t>for building and </a:t>
            </a:r>
            <a:r>
              <a:rPr lang="en-IN" sz="1800" dirty="0" err="1"/>
              <a:t>traing</a:t>
            </a:r>
            <a:r>
              <a:rPr lang="en-IN" sz="1800" dirty="0"/>
              <a:t> the model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48640" y="1043722"/>
            <a:ext cx="11301984" cy="5355312"/>
          </a:xfrm>
          <a:prstGeom prst="rect">
            <a:avLst/>
          </a:prstGeom>
          <a:noFill/>
        </p:spPr>
        <p:txBody>
          <a:bodyPr wrap="square" rtlCol="0">
            <a:spAutoFit/>
          </a:bodyPr>
          <a:lstStyle/>
          <a:p>
            <a:r>
              <a:rPr lang="en-IN" sz="1800" dirty="0"/>
              <a:t>The proposed Course Content Simplification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(simplification, summarization, translation, personalization) to deliver accurate and context‑aware learning support.. </a:t>
            </a:r>
          </a:p>
          <a:p>
            <a:r>
              <a:rPr lang="en-IN" sz="1800" b="1" dirty="0"/>
              <a:t>RAG-Based Accuracy</a:t>
            </a:r>
            <a:r>
              <a:rPr lang="en-IN" sz="1800" dirty="0"/>
              <a:t> – Integrates real‑time retrieval of academic references, glossaries, and definitions with AI generation, reducing misinformation and ensuring trustworthy explanations.</a:t>
            </a:r>
          </a:p>
          <a:p>
            <a:r>
              <a:rPr lang="en-IN" sz="1800" b="1" dirty="0"/>
              <a:t>Hyper-Personalization</a:t>
            </a:r>
            <a:r>
              <a:rPr lang="en-IN" sz="1800" dirty="0"/>
              <a:t> – Tailors simplified content based on learner profiles, proficiency levels, and language preferences, making education more inclusive.</a:t>
            </a:r>
          </a:p>
          <a:p>
            <a:r>
              <a:rPr lang="en-IN" sz="1800" b="1" dirty="0"/>
              <a:t>Real-Time Feedback Loop</a:t>
            </a:r>
            <a:r>
              <a:rPr lang="en-IN" sz="1800" dirty="0"/>
              <a:t> – Continuously adapts explanations and quizzes based on student interactions, comprehension levels, and performance analytics.</a:t>
            </a:r>
          </a:p>
          <a:p>
            <a:r>
              <a:rPr lang="en-IN" sz="1800" b="1" dirty="0"/>
              <a:t>Multi-Modal Input</a:t>
            </a:r>
            <a:r>
              <a:rPr lang="en-IN" sz="1800" dirty="0"/>
              <a:t> – Supports text, voice, and document uploads (PDFs, notes, research papers) for flexible content ingestion.</a:t>
            </a:r>
          </a:p>
          <a:p>
            <a:r>
              <a:rPr lang="en-IN" sz="1800" b="1" dirty="0"/>
              <a:t>Preventive Healthcare Focus</a:t>
            </a:r>
            <a:r>
              <a:rPr lang="en-IN" sz="1800" dirty="0"/>
              <a:t> – Goes beyond simplification to provide accessibility for first‑generation learners, rural students, and non‑English medium backgrounds. </a:t>
            </a:r>
          </a:p>
          <a:p>
            <a:r>
              <a:rPr lang="en-IN" sz="1800" b="1" dirty="0"/>
              <a:t>Scalable &amp; Enterprise-Ready</a:t>
            </a:r>
            <a:r>
              <a:rPr lang="en-IN" sz="1800" dirty="0"/>
              <a:t> Built on </a:t>
            </a:r>
            <a:r>
              <a:rPr lang="en-IN" sz="1800" b="1" dirty="0"/>
              <a:t>IBM watsonx.ai</a:t>
            </a:r>
            <a:r>
              <a:rPr lang="en-IN" sz="1800" dirty="0"/>
              <a:t> with </a:t>
            </a:r>
            <a:r>
              <a:rPr lang="en-IN" sz="1800" b="1" dirty="0"/>
              <a:t>Granite models</a:t>
            </a:r>
            <a:r>
              <a:rPr lang="en-IN" sz="1800" dirty="0"/>
              <a:t>, ensuring reliability, governance, and easy deployment across institutions.</a:t>
            </a:r>
          </a:p>
          <a:p>
            <a:r>
              <a:rPr lang="en-IN" sz="1800" dirty="0"/>
              <a:t>This makes your solution a </a:t>
            </a:r>
            <a:r>
              <a:rPr lang="en-IN" sz="1800" b="1" dirty="0"/>
              <a:t>smart, adaptive, and proactive digital learning assistant</a:t>
            </a:r>
            <a:r>
              <a:rPr lang="en-IN" sz="1800" dirty="0"/>
              <a:t> — not just a static content simplifier.</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IN" sz="2000" dirty="0" err="1">
                <a:hlinkClick r:id="rId3"/>
              </a:rPr>
              <a:t>MaddulaPranathi</a:t>
            </a:r>
            <a:r>
              <a:rPr lang="en-IN" sz="2000">
                <a:hlinkClick r:id="rId3"/>
              </a:rPr>
              <a:t>/IBM-Project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1</a:t>
            </a:r>
            <a:r>
              <a:rPr lang="en-US" sz="1850" b="1" dirty="0">
                <a:solidFill>
                  <a:srgbClr val="2B3541"/>
                </a:solidFill>
                <a:latin typeface="Times New Roman"/>
                <a:ea typeface="Times New Roman"/>
                <a:cs typeface="Times New Roman"/>
                <a:sym typeface="Times New Roman"/>
              </a:rPr>
              <a:t>.</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0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r>
              <a:rPr lang="en-IN" sz="1800" b="1" dirty="0"/>
              <a:t> </a:t>
            </a:r>
          </a:p>
          <a:p>
            <a:pPr lvl="0">
              <a:lnSpc>
                <a:spcPct val="162162"/>
              </a:lnSpc>
              <a:buClr>
                <a:srgbClr val="2B3541"/>
              </a:buClr>
              <a:buSzPts val="1850"/>
            </a:pPr>
            <a:r>
              <a:rPr lang="en-IN" sz="2000" b="1" dirty="0"/>
              <a:t>2.</a:t>
            </a:r>
            <a:r>
              <a:rPr lang="en-IN" sz="1800" b="1" dirty="0"/>
              <a:t>Expanded Language Coverage</a:t>
            </a:r>
            <a:r>
              <a:rPr lang="en-IN" sz="1800" dirty="0"/>
              <a:t> </a:t>
            </a:r>
            <a:r>
              <a:rPr lang="en-IN" sz="2000" dirty="0"/>
              <a:t>– </a:t>
            </a:r>
            <a:r>
              <a:rPr lang="en-IN" sz="1800" dirty="0"/>
              <a:t>Support </a:t>
            </a:r>
            <a:r>
              <a:rPr lang="en-IN" sz="1800" b="1" dirty="0"/>
              <a:t>more regional and global languages</a:t>
            </a:r>
            <a:r>
              <a:rPr lang="en-IN" sz="1800" dirty="0"/>
              <a:t>, ensuring inclusivity for diverse student populations.</a:t>
            </a:r>
            <a:endParaRPr lang="en-US"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1242</TotalTime>
  <Words>1343</Words>
  <Application>Microsoft Office PowerPoint</Application>
  <PresentationFormat>Widescreen</PresentationFormat>
  <Paragraphs>119</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Output Screens: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Maddula Pranathi</cp:lastModifiedBy>
  <cp:revision>28</cp:revision>
  <dcterms:created xsi:type="dcterms:W3CDTF">2025-07-08T05:06:56Z</dcterms:created>
  <dcterms:modified xsi:type="dcterms:W3CDTF">2026-06-05T07:07:10Z</dcterms:modified>
</cp:coreProperties>
</file>